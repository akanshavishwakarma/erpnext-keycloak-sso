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76" r:id="rId9"/>
    <p:sldId id="262" r:id="rId10"/>
    <p:sldId id="263" r:id="rId11"/>
    <p:sldId id="264" r:id="rId12"/>
    <p:sldId id="274" r:id="rId13"/>
    <p:sldId id="265" r:id="rId14"/>
    <p:sldId id="266" r:id="rId15"/>
    <p:sldId id="267" r:id="rId16"/>
    <p:sldId id="272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ERPNext + Keycloak SSO – Implementation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Azure VM deployment, ERPNext setup, Keycloak integration and end-to-end SSO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Objective: centralize authentication for ERPNext using Keycloak (OpenID Connect / OIDC).</a:t>
            </a:r>
          </a:p>
          <a:p>
            <a:pPr>
              <a:spcAft>
                <a:spcPts val="800"/>
              </a:spcAft>
              <a:defRPr sz="2000"/>
            </a:pPr>
            <a:r>
              <a:t>Environment: Azure Ubuntu VM, ERPNext v15, Keycloak 26.7.4, MariaDB and Docker.</a:t>
            </a:r>
          </a:p>
          <a:p>
            <a:pPr>
              <a:spcAft>
                <a:spcPts val="800"/>
              </a:spcAft>
              <a:defRPr sz="2000"/>
            </a:pPr>
            <a:r>
              <a:t>Current status: ERPNext login → Keycloak authentication → ERPNext Dashboard is working successfully.</a:t>
            </a:r>
          </a:p>
          <a:p>
            <a:pPr>
              <a:spcAft>
                <a:spcPts val="800"/>
              </a:spcAft>
              <a:defRPr sz="2000"/>
            </a:pPr>
            <a:r>
              <a:t>Scope covered in this update: infrastructure, ERPNext deployment, Keycloak setup, OIDC configuration, user mapping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Architecture – Current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Azure VM: VM-av | Ubuntu Server 24.04 LTS | Central India | 2 vCPU / 4 GiB RAM.</a:t>
            </a:r>
          </a:p>
          <a:p>
            <a:pPr>
              <a:spcAft>
                <a:spcPts val="800"/>
              </a:spcAft>
              <a:defRPr sz="1800"/>
            </a:pPr>
            <a:r>
              <a:t>ERPNext/Frappe runs directly on the VM with Nginx + Supervisor + MariaDB + Redis.</a:t>
            </a:r>
          </a:p>
          <a:p>
            <a:pPr>
              <a:spcAft>
                <a:spcPts val="800"/>
              </a:spcAft>
              <a:defRPr sz="1800"/>
            </a:pPr>
            <a:r>
              <a:t>Keycloak runs in Docker with a MySQL 8.0 database.</a:t>
            </a:r>
          </a:p>
          <a:p>
            <a:pPr>
              <a:spcAft>
                <a:spcPts val="800"/>
              </a:spcAft>
              <a:defRPr sz="1800"/>
            </a:pPr>
            <a:r>
              <a:t>Keycloak is exposed on TCP 8080 for POC testing; ERPNext is served through Nginx on HTTP 80.</a:t>
            </a:r>
          </a:p>
          <a:p>
            <a:pPr>
              <a:spcAft>
                <a:spcPts val="800"/>
              </a:spcAft>
              <a:defRPr sz="1800"/>
            </a:pPr>
            <a:r>
              <a:t>Authentication protocol: OpenID Connect (OIDC) Authorization Code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155448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5029200"/>
            <a:ext cx="155448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ERPNext</a:t>
            </a:r>
          </a:p>
          <a:p>
            <a:pPr algn="ctr">
              <a:defRPr sz="1200"/>
            </a:pPr>
            <a:r>
              <a:t>Nginx :80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5029200"/>
            <a:ext cx="155448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 err="1"/>
              <a:t>Keycloak</a:t>
            </a:r>
            <a:endParaRPr dirty="0"/>
          </a:p>
          <a:p>
            <a:pPr algn="ctr">
              <a:defRPr sz="1200"/>
            </a:pPr>
            <a:r>
              <a:rPr dirty="0"/>
              <a:t>:8080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5029200"/>
            <a:ext cx="155448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OIDC</a:t>
            </a:r>
          </a:p>
          <a:p>
            <a:pPr algn="ctr">
              <a:defRPr sz="1200"/>
            </a:pPr>
            <a:r>
              <a:t>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5029200"/>
            <a:ext cx="155448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ERPNext</a:t>
            </a:r>
          </a:p>
          <a:p>
            <a:pPr algn="ctr">
              <a:defRPr sz="1200"/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2</a:t>
            </a:r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>
            <a:off x="2286000" y="5372100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6" idx="1"/>
          </p:cNvCxnSpPr>
          <p:nvPr/>
        </p:nvCxnSpPr>
        <p:spPr>
          <a:xfrm>
            <a:off x="4480560" y="5372100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17110" y="528975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3"/>
            <a:endCxn id="7" idx="1"/>
          </p:cNvCxnSpPr>
          <p:nvPr/>
        </p:nvCxnSpPr>
        <p:spPr>
          <a:xfrm>
            <a:off x="7040880" y="5372100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370142" y="5338916"/>
            <a:ext cx="0" cy="33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601200" y="5372100"/>
            <a:ext cx="604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Azure Infrastructure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Resource Group: rg-av | Region: Central India.</a:t>
            </a:r>
          </a:p>
          <a:p>
            <a:pPr>
              <a:spcAft>
                <a:spcPts val="800"/>
              </a:spcAft>
              <a:defRPr sz="1700"/>
            </a:pPr>
            <a:r>
              <a:t>VNet: vnet-av | Address space: 10.0.0.0/16 | Subnet: subnet-av (10.0.0.0/24).</a:t>
            </a:r>
          </a:p>
          <a:p>
            <a:pPr>
              <a:spcAft>
                <a:spcPts val="800"/>
              </a:spcAft>
              <a:defRPr sz="1700"/>
            </a:pPr>
            <a:r>
              <a:t>VM: VM-av | Ubuntu 24.04 LTS | Standard D2ls_v6 | 2 vCPU / 4 GiB RAM.</a:t>
            </a:r>
          </a:p>
          <a:p>
            <a:pPr>
              <a:spcAft>
                <a:spcPts val="800"/>
              </a:spcAft>
              <a:defRPr sz="1700"/>
            </a:pPr>
            <a:r>
              <a:t>Authentication: local VM username `akansha` with SSH access.</a:t>
            </a:r>
          </a:p>
          <a:p>
            <a:pPr>
              <a:spcAft>
                <a:spcPts val="800"/>
              </a:spcAft>
              <a:defRPr sz="1700"/>
            </a:pPr>
            <a:r>
              <a:t>Public IP used during POC: 40.80.93.70.</a:t>
            </a:r>
          </a:p>
          <a:p>
            <a:pPr>
              <a:spcAft>
                <a:spcPts val="800"/>
              </a:spcAft>
              <a:defRPr sz="1700"/>
            </a:pPr>
            <a:r>
              <a:t>NSG access: HTTP 80 and SSH 22; TCP 8080 temporarily allowed for Keycloak POC.</a:t>
            </a:r>
          </a:p>
          <a:p>
            <a:pPr>
              <a:spcAft>
                <a:spcPts val="800"/>
              </a:spcAft>
              <a:defRPr sz="1700"/>
            </a:pPr>
            <a:r>
              <a:t>MariaDB/Redis ports were not exposed publicly.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ERPNext</a:t>
            </a:r>
            <a:r>
              <a:rPr dirty="0"/>
              <a:t>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Clean ERPNext deployment was performed from the official Frappe/ERPNext repositories.</a:t>
            </a:r>
          </a:p>
          <a:p>
            <a:pPr>
              <a:spcAft>
                <a:spcPts val="800"/>
              </a:spcAft>
              <a:defRPr sz="1700"/>
            </a:pPr>
            <a:r>
              <a:t>Frappe: 15.121.3 | ERPNext: 15.121.6.</a:t>
            </a:r>
          </a:p>
          <a:p>
            <a:pPr>
              <a:spcAft>
                <a:spcPts val="800"/>
              </a:spcAft>
              <a:defRPr sz="1700"/>
            </a:pPr>
            <a:r>
              <a:t>Created site: `erp.av.local`.</a:t>
            </a:r>
          </a:p>
          <a:p>
            <a:pPr>
              <a:spcAft>
                <a:spcPts val="800"/>
              </a:spcAft>
              <a:defRPr sz="1700"/>
            </a:pPr>
            <a:r>
              <a:t>MariaDB 10.11 configured with utf8mb4 and secure root authentication.</a:t>
            </a:r>
          </a:p>
          <a:p>
            <a:pPr>
              <a:spcAft>
                <a:spcPts val="800"/>
              </a:spcAft>
              <a:defRPr sz="1700"/>
            </a:pPr>
            <a:r>
              <a:t>Redis cache/queue services configured and validated.</a:t>
            </a:r>
          </a:p>
          <a:p>
            <a:pPr>
              <a:spcAft>
                <a:spcPts val="800"/>
              </a:spcAft>
              <a:defRPr sz="1700"/>
            </a:pPr>
            <a:r>
              <a:t>Production setup completed using Bench + Supervisor + Nginx.</a:t>
            </a:r>
          </a:p>
          <a:p>
            <a:pPr>
              <a:spcAft>
                <a:spcPts val="800"/>
              </a:spcAft>
              <a:defRPr sz="1700"/>
            </a:pPr>
            <a:r>
              <a:t>Supervisor services verified RUNNING: Redis cache/queue, web, Socket.IO, long worker, short worker and scheduler.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22024"/>
            <a:ext cx="12192000" cy="11430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>
              <a:defRPr sz="2800" b="1"/>
            </a:pPr>
            <a:r>
              <a:rPr lang="en-IN" dirty="0" err="1"/>
              <a:t>ERPNext</a:t>
            </a:r>
            <a:r>
              <a:rPr lang="en-IN" dirty="0"/>
              <a:t> Deployment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976"/>
            <a:ext cx="12192000" cy="58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ERPNext Asset / Nginx Issue and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Initial browser login page loaded without proper styling because static assets returned HTTP 404.</a:t>
            </a:r>
          </a:p>
          <a:p>
            <a:pPr>
              <a:spcAft>
                <a:spcPts val="800"/>
              </a:spcAft>
              <a:defRPr sz="1700"/>
            </a:pPr>
            <a:r>
              <a:t>Root cause: Nginx worker user could not traverse `/home/akansha` directory.</a:t>
            </a:r>
          </a:p>
          <a:p>
            <a:pPr>
              <a:spcAft>
                <a:spcPts val="800"/>
              </a:spcAft>
              <a:defRPr sz="1700"/>
            </a:pPr>
            <a:r>
              <a:t>Actual assets existed under `frappe-bench/sites/assets`.</a:t>
            </a:r>
          </a:p>
          <a:p>
            <a:pPr>
              <a:spcAft>
                <a:spcPts val="800"/>
              </a:spcAft>
              <a:defRPr sz="1700"/>
            </a:pPr>
            <a:r>
              <a:t>Permission was corrected by allowing directory traversal on `/home/akansha`.</a:t>
            </a:r>
          </a:p>
          <a:p>
            <a:pPr>
              <a:spcAft>
                <a:spcPts val="800"/>
              </a:spcAft>
              <a:defRPr sz="1700"/>
            </a:pPr>
            <a:r>
              <a:t>Nginx configuration was tested and reloaded successfully.</a:t>
            </a:r>
          </a:p>
          <a:p>
            <a:pPr>
              <a:spcAft>
                <a:spcPts val="800"/>
              </a:spcAft>
              <a:defRPr sz="1700"/>
            </a:pPr>
            <a:r>
              <a:t>Asset request then returned HTTP 200 and the ERPNext login page rendered correctly.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Keycloak</a:t>
            </a:r>
            <a:r>
              <a:rPr dirty="0"/>
              <a:t>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Installed Docker Engine and Docker Compose v2 on the Azure VM.</a:t>
            </a:r>
          </a:p>
          <a:p>
            <a:pPr>
              <a:spcAft>
                <a:spcPts val="800"/>
              </a:spcAft>
              <a:defRPr sz="1700"/>
            </a:pPr>
            <a:r>
              <a:t>Keycloak image: `quay.io/keycloak/keycloak:26.7.4`.</a:t>
            </a:r>
          </a:p>
          <a:p>
            <a:pPr>
              <a:spcAft>
                <a:spcPts val="800"/>
              </a:spcAft>
              <a:defRPr sz="1700"/>
            </a:pPr>
            <a:r>
              <a:t>Database: MySQL 8.0 in a separate Docker container.</a:t>
            </a:r>
          </a:p>
          <a:p>
            <a:pPr>
              <a:spcAft>
                <a:spcPts val="800"/>
              </a:spcAft>
              <a:defRPr sz="1700"/>
            </a:pPr>
            <a:r>
              <a:t>Persistent Docker volume configured for Keycloak database data.</a:t>
            </a:r>
          </a:p>
          <a:p>
            <a:pPr>
              <a:spcAft>
                <a:spcPts val="800"/>
              </a:spcAft>
              <a:defRPr sz="1700"/>
            </a:pPr>
            <a:r>
              <a:t>Containers: `keycloak` and `keycloak-db`.</a:t>
            </a:r>
          </a:p>
          <a:p>
            <a:pPr>
              <a:spcAft>
                <a:spcPts val="800"/>
              </a:spcAft>
              <a:defRPr sz="1700"/>
            </a:pPr>
            <a:r>
              <a:t>Keycloak health check and startup logs validated successfully.</a:t>
            </a:r>
          </a:p>
          <a:p>
            <a:pPr>
              <a:spcAft>
                <a:spcPts val="800"/>
              </a:spcAft>
              <a:defRPr sz="1700"/>
            </a:pPr>
            <a:r>
              <a:t>Keycloak internal endpoint returned HTTP 302 to `/admin/`, confirming service availability.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65"/>
            <a:ext cx="12192000" cy="11430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>
              <a:defRPr sz="2800" b="1"/>
            </a:pPr>
            <a:r>
              <a:rPr lang="en-IN" dirty="0" err="1"/>
              <a:t>Keycloak</a:t>
            </a:r>
            <a:r>
              <a:rPr lang="en-IN" dirty="0"/>
              <a:t> Deployment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411"/>
            <a:ext cx="12113342" cy="57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0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Keycloak Realm and Security Configuration –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Created realm: `erpnext`.</a:t>
            </a:r>
          </a:p>
          <a:p>
            <a:pPr>
              <a:spcAft>
                <a:spcPts val="800"/>
              </a:spcAft>
              <a:defRPr sz="1700"/>
            </a:pPr>
            <a:r>
              <a:t>Master realm remains the Keycloak administration realm.</a:t>
            </a:r>
          </a:p>
          <a:p>
            <a:pPr>
              <a:spcAft>
                <a:spcPts val="800"/>
              </a:spcAft>
              <a:defRPr sz="1700"/>
            </a:pPr>
            <a:r>
              <a:t>POC realm SSL requirement was set to NONE because the current test endpoint uses HTTP.</a:t>
            </a:r>
          </a:p>
          <a:p>
            <a:pPr>
              <a:spcAft>
                <a:spcPts val="800"/>
              </a:spcAft>
              <a:defRPr sz="1700"/>
            </a:pPr>
            <a:r>
              <a:t>OIDC discovery endpoint was validated successfully.</a:t>
            </a:r>
          </a:p>
          <a:p>
            <a:pPr>
              <a:spcAft>
                <a:spcPts val="800"/>
              </a:spcAft>
              <a:defRPr sz="1700"/>
            </a:pPr>
            <a:r>
              <a:t>Discovery metadata confirmed authorization, token, userinfo, logout and JWKS endpoints.</a:t>
            </a:r>
          </a:p>
          <a:p>
            <a:pPr>
              <a:spcAft>
                <a:spcPts val="800"/>
              </a:spcAft>
              <a:defRPr sz="1700"/>
            </a:pPr>
            <a:r>
              <a:t>Important: SSL NONE + HTTP + public 8080 are temporary POC settings and must be replaced with HTTPS in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Keycloak Client – ERPNext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Client ID: `erpnext`.</a:t>
            </a:r>
          </a:p>
          <a:p>
            <a:pPr>
              <a:spcAft>
                <a:spcPts val="800"/>
              </a:spcAft>
              <a:defRPr sz="1600"/>
            </a:pPr>
            <a:r>
              <a:t>Client type: OpenID Connect.</a:t>
            </a:r>
          </a:p>
          <a:p>
            <a:pPr>
              <a:spcAft>
                <a:spcPts val="800"/>
              </a:spcAft>
              <a:defRPr sz="1600"/>
            </a:pPr>
            <a:r>
              <a:t>Client authentication: ON (confidential client).</a:t>
            </a:r>
          </a:p>
          <a:p>
            <a:pPr>
              <a:spcAft>
                <a:spcPts val="800"/>
              </a:spcAft>
              <a:defRPr sz="1600"/>
            </a:pPr>
            <a:r>
              <a:t>Standard Authorization Code flow: ON.</a:t>
            </a:r>
          </a:p>
          <a:p>
            <a:pPr>
              <a:spcAft>
                <a:spcPts val="800"/>
              </a:spcAft>
              <a:defRPr sz="1600"/>
            </a:pPr>
            <a:r>
              <a:t>Direct Access Grants / Implicit Flow: OFF.</a:t>
            </a:r>
          </a:p>
          <a:p>
            <a:pPr>
              <a:spcAft>
                <a:spcPts val="800"/>
              </a:spcAft>
              <a:defRPr sz="1600"/>
            </a:pPr>
            <a:r>
              <a:t>Root/Home URL: `http://40.80.93.70`.</a:t>
            </a:r>
          </a:p>
          <a:p>
            <a:pPr>
              <a:spcAft>
                <a:spcPts val="800"/>
              </a:spcAft>
              <a:defRPr sz="1600"/>
            </a:pPr>
            <a:r>
              <a:t>Web Origin: `http://40.80.93.70`.</a:t>
            </a:r>
          </a:p>
          <a:p>
            <a:pPr>
              <a:spcAft>
                <a:spcPts val="800"/>
              </a:spcAft>
              <a:defRPr sz="1600"/>
            </a:pPr>
            <a:r>
              <a:t>Callback route configured for Frappe: `/api/method/frappe.integrations.oauth2_logins.login_via_keycloak`.</a:t>
            </a:r>
          </a:p>
          <a:p>
            <a:pPr>
              <a:spcAft>
                <a:spcPts val="800"/>
              </a:spcAft>
              <a:defRPr sz="1600"/>
            </a:pPr>
            <a:r>
              <a:t>Client Secret was generated and kept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ERPNext</a:t>
            </a:r>
            <a:r>
              <a:rPr dirty="0"/>
              <a:t> Social Login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ERPNext: Settings → Integrations → Social Login Key → Provider: Keycloak.</a:t>
            </a:r>
          </a:p>
          <a:p>
            <a:pPr>
              <a:spcAft>
                <a:spcPts val="800"/>
              </a:spcAft>
              <a:defRPr sz="1600"/>
            </a:pPr>
            <a:r>
              <a:t>Base URL: `http://40.80.93.70:8080/realms/erpnext`.</a:t>
            </a:r>
          </a:p>
          <a:p>
            <a:pPr>
              <a:spcAft>
                <a:spcPts val="800"/>
              </a:spcAft>
              <a:defRPr sz="1600"/>
            </a:pPr>
            <a:r>
              <a:t>Authorize URL: `/protocol/openid-connect/auth`.</a:t>
            </a:r>
          </a:p>
          <a:p>
            <a:pPr>
              <a:spcAft>
                <a:spcPts val="800"/>
              </a:spcAft>
              <a:defRPr sz="1600"/>
            </a:pPr>
            <a:r>
              <a:t>Access Token URL: `/protocol/openid-connect/token`.</a:t>
            </a:r>
          </a:p>
          <a:p>
            <a:pPr>
              <a:spcAft>
                <a:spcPts val="800"/>
              </a:spcAft>
              <a:defRPr sz="1600"/>
            </a:pPr>
            <a:r>
              <a:t>API Endpoint: `/protocol/openid-connect/userinfo`.</a:t>
            </a:r>
          </a:p>
          <a:p>
            <a:pPr>
              <a:spcAft>
                <a:spcPts val="800"/>
              </a:spcAft>
              <a:defRPr sz="1600"/>
            </a:pPr>
            <a:r>
              <a:t>User ID Property: `preferred_username`.</a:t>
            </a:r>
          </a:p>
          <a:p>
            <a:pPr>
              <a:spcAft>
                <a:spcPts val="800"/>
              </a:spcAft>
              <a:defRPr sz="1600"/>
            </a:pPr>
            <a:r>
              <a:t>Auth URL Data: `response_type=code`, `scope=openid`.</a:t>
            </a:r>
          </a:p>
          <a:p>
            <a:pPr>
              <a:spcAft>
                <a:spcPts val="800"/>
              </a:spcAft>
              <a:defRPr sz="1600"/>
            </a:pPr>
            <a:r>
              <a:t>Social Login was explicitly enabled after identifying that `enable_social_login` was initially set to 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7974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en-IN" dirty="0" err="1"/>
              <a:t>ERPNext</a:t>
            </a:r>
            <a:r>
              <a:rPr lang="en-IN" dirty="0"/>
              <a:t> Social Login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212"/>
            <a:ext cx="12192000" cy="57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95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Issue Found During SSO Test – Signup Disabled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Keycloak login button appeared successfully after enabling the Social Login Key.</a:t>
            </a:r>
          </a:p>
          <a:p>
            <a:pPr>
              <a:spcAft>
                <a:spcPts val="800"/>
              </a:spcAft>
              <a:defRPr sz="1700"/>
            </a:pPr>
            <a:r>
              <a:t>User was authenticated by Keycloak, but ERPNext returned HTTP 403: `Signup is Disabled`.</a:t>
            </a:r>
          </a:p>
          <a:p>
            <a:pPr>
              <a:spcAft>
                <a:spcPts val="800"/>
              </a:spcAft>
              <a:defRPr sz="1700"/>
            </a:pPr>
            <a:r>
              <a:t>Investigation showed the Keycloak user did not yet have a matching ERPNext user account.</a:t>
            </a:r>
          </a:p>
          <a:p>
            <a:pPr>
              <a:spcAft>
                <a:spcPts val="800"/>
              </a:spcAft>
              <a:defRPr sz="1700"/>
            </a:pPr>
            <a:r>
              <a:t>Created ERPNext user: `testuser@av.local`.</a:t>
            </a:r>
          </a:p>
          <a:p>
            <a:pPr>
              <a:spcAft>
                <a:spcPts val="800"/>
              </a:spcAft>
              <a:defRPr sz="1700"/>
            </a:pPr>
            <a:r>
              <a:t>Initially the ERPNext record was created as Website User; this was corrected to System User.</a:t>
            </a:r>
          </a:p>
          <a:p>
            <a:pPr>
              <a:spcAft>
                <a:spcPts val="800"/>
              </a:spcAft>
              <a:defRPr sz="1700"/>
            </a:pPr>
            <a:r>
              <a:t>After correction, the same Keycloak user successfully entered ERPNext.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90" y="72854"/>
            <a:ext cx="12192000" cy="5232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/>
              <a:t>Test User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747" y="920585"/>
            <a:ext cx="5551293" cy="52014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 err="1"/>
              <a:t>Keycloak</a:t>
            </a:r>
            <a:r>
              <a:rPr dirty="0"/>
              <a:t> realm: `</a:t>
            </a:r>
            <a:r>
              <a:rPr dirty="0" err="1"/>
              <a:t>erpnext</a:t>
            </a:r>
            <a:r>
              <a:rPr dirty="0"/>
              <a:t>`.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Keycloak</a:t>
            </a:r>
            <a:r>
              <a:rPr dirty="0"/>
              <a:t> username: `</a:t>
            </a:r>
            <a:r>
              <a:rPr dirty="0" err="1"/>
              <a:t>testuser</a:t>
            </a:r>
            <a:r>
              <a:rPr dirty="0"/>
              <a:t>`.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Keycloak</a:t>
            </a:r>
            <a:r>
              <a:rPr dirty="0"/>
              <a:t> email: `</a:t>
            </a:r>
            <a:r>
              <a:rPr dirty="0" err="1"/>
              <a:t>testuser@av.local</a:t>
            </a:r>
            <a:r>
              <a:rPr dirty="0"/>
              <a:t>`.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ERPNext</a:t>
            </a:r>
            <a:r>
              <a:rPr dirty="0"/>
              <a:t> email/user: `</a:t>
            </a:r>
            <a:r>
              <a:rPr dirty="0" err="1"/>
              <a:t>testuser@av.local</a:t>
            </a:r>
            <a:r>
              <a:rPr dirty="0"/>
              <a:t>`.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ERPNext</a:t>
            </a:r>
            <a:r>
              <a:rPr dirty="0"/>
              <a:t> account status: Enabled.</a:t>
            </a:r>
          </a:p>
          <a:p>
            <a:pPr>
              <a:spcAft>
                <a:spcPts val="800"/>
              </a:spcAft>
              <a:defRPr sz="1800"/>
            </a:pPr>
            <a:r>
              <a:rPr dirty="0" err="1"/>
              <a:t>ERPNext</a:t>
            </a:r>
            <a:r>
              <a:rPr dirty="0"/>
              <a:t> User Type: System User.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Result: </a:t>
            </a:r>
            <a:r>
              <a:rPr dirty="0" err="1"/>
              <a:t>Keycloak</a:t>
            </a:r>
            <a:r>
              <a:rPr dirty="0"/>
              <a:t> identity successfully mapped to an </a:t>
            </a:r>
            <a:r>
              <a:rPr dirty="0" err="1"/>
              <a:t>ERPNext</a:t>
            </a:r>
            <a:r>
              <a:rPr dirty="0"/>
              <a:t> application user</a:t>
            </a:r>
            <a:r>
              <a:rPr dirty="0" smtClean="0"/>
              <a:t>.</a:t>
            </a:r>
            <a:endParaRPr lang="en-IN" dirty="0" smtClean="0"/>
          </a:p>
          <a:p>
            <a:pPr>
              <a:spcAft>
                <a:spcPts val="800"/>
              </a:spcAft>
              <a:defRPr sz="1800"/>
            </a:pPr>
            <a:endParaRPr lang="en-IN" dirty="0"/>
          </a:p>
          <a:p>
            <a:pPr>
              <a:spcAft>
                <a:spcPts val="800"/>
              </a:spcAft>
              <a:defRPr sz="1800"/>
            </a:pPr>
            <a:endParaRPr lang="en-IN" dirty="0" smtClean="0"/>
          </a:p>
          <a:p>
            <a:pPr>
              <a:spcAft>
                <a:spcPts val="800"/>
              </a:spcAft>
              <a:defRPr sz="1800"/>
            </a:pPr>
            <a:endParaRPr lang="en-IN" dirty="0"/>
          </a:p>
          <a:p>
            <a:pPr>
              <a:spcAft>
                <a:spcPts val="800"/>
              </a:spcAft>
              <a:defRPr sz="1800"/>
            </a:pPr>
            <a:endParaRPr lang="en-IN" dirty="0" smtClean="0"/>
          </a:p>
          <a:p>
            <a:pPr>
              <a:spcAft>
                <a:spcPts val="800"/>
              </a:spcAft>
              <a:defRPr sz="1800"/>
            </a:pPr>
            <a:endParaRPr lang="en-IN" dirty="0"/>
          </a:p>
          <a:p>
            <a:pPr>
              <a:spcAft>
                <a:spcPts val="800"/>
              </a:spcAft>
              <a:defRPr sz="1800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136" y="1002890"/>
            <a:ext cx="5329084" cy="50439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End-to-End SSO Validation –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Step 1: User opens ERPNext login page.</a:t>
            </a:r>
          </a:p>
          <a:p>
            <a:pPr>
              <a:spcAft>
                <a:spcPts val="800"/>
              </a:spcAft>
              <a:defRPr sz="1700"/>
            </a:pPr>
            <a:r>
              <a:t>Step 2: User selects `Login with Keycloak`.</a:t>
            </a:r>
          </a:p>
          <a:p>
            <a:pPr>
              <a:spcAft>
                <a:spcPts val="800"/>
              </a:spcAft>
              <a:defRPr sz="1700"/>
            </a:pPr>
            <a:r>
              <a:t>Step 3: ERPNext redirects to Keycloak in the `erpnext` realm.</a:t>
            </a:r>
          </a:p>
          <a:p>
            <a:pPr>
              <a:spcAft>
                <a:spcPts val="800"/>
              </a:spcAft>
              <a:defRPr sz="1700"/>
            </a:pPr>
            <a:r>
              <a:t>Step 4: User authenticates with Keycloak credentials.</a:t>
            </a:r>
          </a:p>
          <a:p>
            <a:pPr>
              <a:spcAft>
                <a:spcPts val="800"/>
              </a:spcAft>
              <a:defRPr sz="1700"/>
            </a:pPr>
            <a:r>
              <a:t>Step 5: Keycloak returns the OIDC authorization response.</a:t>
            </a:r>
          </a:p>
          <a:p>
            <a:pPr>
              <a:spcAft>
                <a:spcPts val="800"/>
              </a:spcAft>
              <a:defRPr sz="1700"/>
            </a:pPr>
            <a:r>
              <a:t>Step 6: Frappe processes the callback and identifies the matching ERPNext user.</a:t>
            </a:r>
          </a:p>
          <a:p>
            <a:pPr>
              <a:spcAft>
                <a:spcPts val="800"/>
              </a:spcAft>
              <a:defRPr sz="1700"/>
            </a:pPr>
            <a:r>
              <a:t>Step 7: User is redirected into the ERPNext Dashboard.</a:t>
            </a:r>
          </a:p>
          <a:p>
            <a:pPr>
              <a:spcAft>
                <a:spcPts val="800"/>
              </a:spcAft>
              <a:defRPr sz="1700"/>
            </a:pPr>
            <a:r>
              <a:t>Final status: END-TO-END ERPNext + Keycloak SSO POC SUCCESSFUL.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>
              <a:defRPr sz="2800" b="1"/>
            </a:pPr>
            <a:r>
              <a:rPr lang="en-IN" dirty="0"/>
              <a:t>End-to-End SSO Validation – SUCCESS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826"/>
            <a:ext cx="12192000" cy="589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90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Status – Completed vs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COMPLETED</a:t>
            </a:r>
          </a:p>
          <a:p>
            <a:pPr lvl="1">
              <a:spcAft>
                <a:spcPts val="800"/>
              </a:spcAft>
              <a:defRPr sz="1300"/>
            </a:pPr>
            <a:r>
              <a:t>Azure VM and network baseline</a:t>
            </a:r>
          </a:p>
          <a:p>
            <a:pPr lvl="1">
              <a:spcAft>
                <a:spcPts val="800"/>
              </a:spcAft>
              <a:defRPr sz="1300"/>
            </a:pPr>
            <a:r>
              <a:t>ERPNext v15 deployment and production services</a:t>
            </a:r>
          </a:p>
          <a:p>
            <a:pPr lvl="1">
              <a:spcAft>
                <a:spcPts val="800"/>
              </a:spcAft>
              <a:defRPr sz="1300"/>
            </a:pPr>
            <a:r>
              <a:t>Keycloak + MySQL Docker deployment</a:t>
            </a:r>
          </a:p>
          <a:p>
            <a:pPr lvl="1">
              <a:spcAft>
                <a:spcPts val="800"/>
              </a:spcAft>
              <a:defRPr sz="1300"/>
            </a:pPr>
            <a:r>
              <a:t>Keycloak `erpnext` realm and OIDC client</a:t>
            </a:r>
          </a:p>
          <a:p>
            <a:pPr lvl="1">
              <a:spcAft>
                <a:spcPts val="800"/>
              </a:spcAft>
              <a:defRPr sz="1300"/>
            </a:pPr>
            <a:r>
              <a:t>ERPNext Social Login Key configuration</a:t>
            </a:r>
          </a:p>
          <a:p>
            <a:pPr lvl="1">
              <a:spcAft>
                <a:spcPts val="800"/>
              </a:spcAft>
              <a:defRPr sz="1300"/>
            </a:pPr>
            <a:r>
              <a:t>Keycloak authentication + ERPNext dashboard SSO test</a:t>
            </a:r>
          </a:p>
          <a:p>
            <a:pPr>
              <a:spcAft>
                <a:spcPts val="800"/>
              </a:spcAft>
              <a:defRPr sz="1500"/>
            </a:pPr>
            <a:r>
              <a:t>PENDING / NEXT</a:t>
            </a:r>
          </a:p>
          <a:p>
            <a:pPr lvl="1">
              <a:spcAft>
                <a:spcPts val="800"/>
              </a:spcAft>
              <a:defRPr sz="1300"/>
            </a:pPr>
            <a:r>
              <a:t>Production HTTPS + domain + reverse proxy</a:t>
            </a:r>
          </a:p>
          <a:p>
            <a:pPr lvl="1">
              <a:spcAft>
                <a:spcPts val="800"/>
              </a:spcAft>
              <a:defRPr sz="1300"/>
            </a:pPr>
            <a:r>
              <a:t>Remove public Keycloak port 8080</a:t>
            </a:r>
          </a:p>
          <a:p>
            <a:pPr lvl="1">
              <a:spcAft>
                <a:spcPts val="800"/>
              </a:spcAft>
              <a:defRPr sz="1300"/>
            </a:pPr>
            <a:r>
              <a:t>Keycloak production mode and hardened configuration</a:t>
            </a:r>
          </a:p>
          <a:p>
            <a:pPr lvl="1">
              <a:spcAft>
                <a:spcPts val="800"/>
              </a:spcAft>
              <a:defRPr sz="1300"/>
            </a:pPr>
            <a:r>
              <a:t>Central user provisioning/synchronization</a:t>
            </a:r>
          </a:p>
          <a:p>
            <a:pPr lvl="1">
              <a:spcAft>
                <a:spcPts val="800"/>
              </a:spcAft>
              <a:defRPr sz="1300"/>
            </a:pPr>
            <a:r>
              <a:t>BiBo SSO activation using the same Keycloak identity</a:t>
            </a:r>
          </a:p>
          <a:p>
            <a:pPr lvl="1">
              <a:spcAft>
                <a:spcPts val="800"/>
              </a:spcAft>
              <a:defRPr sz="1300"/>
            </a:pPr>
            <a:r>
              <a:t>CI/CD pipeline, security gates, health checks and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Production Hardening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Use a proper DNS name for ERPNext and Keycloak instead of public IP URLs.</a:t>
            </a:r>
          </a:p>
          <a:p>
            <a:pPr>
              <a:spcAft>
                <a:spcPts val="800"/>
              </a:spcAft>
              <a:defRPr sz="1500"/>
            </a:pPr>
            <a:r>
              <a:t>Terminate TLS with Nginx / reverse proxy and enforce HTTPS.</a:t>
            </a:r>
          </a:p>
          <a:p>
            <a:pPr>
              <a:spcAft>
                <a:spcPts val="800"/>
              </a:spcAft>
              <a:defRPr sz="1500"/>
            </a:pPr>
            <a:r>
              <a:t>Remove the Azure NSG rule allowing public TCP 8080 after reverse proxy setup.</a:t>
            </a:r>
          </a:p>
          <a:p>
            <a:pPr>
              <a:spcAft>
                <a:spcPts val="800"/>
              </a:spcAft>
              <a:defRPr sz="1500"/>
            </a:pPr>
            <a:r>
              <a:t>Run Keycloak in production mode instead of `start-dev`.</a:t>
            </a:r>
          </a:p>
          <a:p>
            <a:pPr>
              <a:spcAft>
                <a:spcPts val="800"/>
              </a:spcAft>
              <a:defRPr sz="1500"/>
            </a:pPr>
            <a:r>
              <a:t>Move database/admin credentials out of compose YAML into protected secrets or environment management.</a:t>
            </a:r>
          </a:p>
          <a:p>
            <a:pPr>
              <a:spcAft>
                <a:spcPts val="800"/>
              </a:spcAft>
              <a:defRPr sz="1500"/>
            </a:pPr>
            <a:r>
              <a:t>Rotate POC credentials before production.</a:t>
            </a:r>
          </a:p>
          <a:p>
            <a:pPr>
              <a:spcAft>
                <a:spcPts val="800"/>
              </a:spcAft>
              <a:defRPr sz="1500"/>
            </a:pPr>
            <a:r>
              <a:t>Keep MariaDB and Redis private; do not expose database ports.</a:t>
            </a:r>
          </a:p>
          <a:p>
            <a:pPr>
              <a:spcAft>
                <a:spcPts val="800"/>
              </a:spcAft>
              <a:defRPr sz="1500"/>
            </a:pPr>
            <a:r>
              <a:t>Consider resizing to 8 GiB+ RAM or separating Keycloak from ERPNext as the user base grows.</a:t>
            </a:r>
          </a:p>
          <a:p>
            <a:pPr>
              <a:spcAft>
                <a:spcPts val="800"/>
              </a:spcAft>
              <a:defRPr sz="1500"/>
            </a:pPr>
            <a:r>
              <a:t>Retain ERPNext Administrator as a controlled break-glass account until SSO is fully production-hardened.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Phase – Central Identity + BiBo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1. Harden Keycloak and ERPNext with domain + HTTPS.</a:t>
            </a:r>
          </a:p>
          <a:p>
            <a:pPr>
              <a:spcAft>
                <a:spcPts val="800"/>
              </a:spcAft>
              <a:defRPr sz="1700"/>
            </a:pPr>
            <a:r>
              <a:t>2. Define employee identity attributes/groups in Keycloak.</a:t>
            </a:r>
          </a:p>
          <a:p>
            <a:pPr>
              <a:spcAft>
                <a:spcPts val="800"/>
              </a:spcAft>
              <a:defRPr sz="1700"/>
            </a:pPr>
            <a:r>
              <a:t>3. Implement controlled ERPNext user provisioning and role mapping.</a:t>
            </a:r>
          </a:p>
          <a:p>
            <a:pPr>
              <a:spcAft>
                <a:spcPts val="800"/>
              </a:spcAft>
              <a:defRPr sz="1700"/>
            </a:pPr>
            <a:r>
              <a:t>4. Integrate BiBo so the same Keycloak authentication activates the employee tracker without a second login.</a:t>
            </a:r>
          </a:p>
          <a:p>
            <a:pPr>
              <a:spcAft>
                <a:spcPts val="800"/>
              </a:spcAft>
              <a:defRPr sz="1700"/>
            </a:pPr>
            <a:r>
              <a:t>5. Add application roles/groups for ERPNext and future applications.</a:t>
            </a:r>
          </a:p>
          <a:p>
            <a:pPr>
              <a:spcAft>
                <a:spcPts val="800"/>
              </a:spcAft>
              <a:defRPr sz="1700"/>
            </a:pPr>
            <a:r>
              <a:t>6. Implement CI/CD separately: PR validation → security checks → approval → deployment → health check → rollback.</a:t>
            </a:r>
          </a:p>
          <a:p>
            <a:pPr>
              <a:spcAft>
                <a:spcPts val="800"/>
              </a:spcAft>
              <a:defRPr sz="1700"/>
            </a:pPr>
            <a:r>
              <a:t>7. Document operations, backup/restore and access-control procedures.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ERPNext has been successfully deployed on Azure and stabilized with production-style Nginx/Supervisor services.</a:t>
            </a:r>
          </a:p>
          <a:p>
            <a:pPr>
              <a:spcAft>
                <a:spcPts val="800"/>
              </a:spcAft>
              <a:defRPr sz="1900"/>
            </a:pPr>
            <a:r>
              <a:t>Keycloak has been deployed as the centralized Identity Provider and connected to ERPNext using OIDC.</a:t>
            </a:r>
          </a:p>
          <a:p>
            <a:pPr>
              <a:spcAft>
                <a:spcPts val="800"/>
              </a:spcAft>
              <a:defRPr sz="1900"/>
            </a:pPr>
            <a:r>
              <a:t>The end-to-end login flow has been tested with a real Keycloak test identity and reaches the ERPNext Dashboard.</a:t>
            </a:r>
          </a:p>
          <a:p>
            <a:pPr>
              <a:spcAft>
                <a:spcPts val="800"/>
              </a:spcAft>
              <a:defRPr sz="1900"/>
            </a:pPr>
            <a:r>
              <a:t>The current implementation is a working POC; production security hardening is the next priority.</a:t>
            </a:r>
          </a:p>
          <a:p>
            <a:pPr>
              <a:spcAft>
                <a:spcPts val="800"/>
              </a:spcAft>
              <a:defRPr sz="1900"/>
            </a:pPr>
            <a:r>
              <a:t>The architecture is ready to be extended toward centralized employee identity, BiBo integration and CI/CD.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ERPNext + Keycloak SSO POC | Akansha Vishwakarma | Slide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1528</Words>
  <Application>Microsoft Office PowerPoint</Application>
  <PresentationFormat>Widescreen</PresentationFormat>
  <Paragraphs>165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ERPNext Deployment</vt:lpstr>
      <vt:lpstr>PowerPoint Presentation</vt:lpstr>
      <vt:lpstr>PowerPoint Presentation</vt:lpstr>
      <vt:lpstr>Keycloak Deployment</vt:lpstr>
      <vt:lpstr>PowerPoint Presentation</vt:lpstr>
      <vt:lpstr>PowerPoint Presentation</vt:lpstr>
      <vt:lpstr>PowerPoint Presentation</vt:lpstr>
      <vt:lpstr>ERPNext Social Login</vt:lpstr>
      <vt:lpstr>PowerPoint Presentation</vt:lpstr>
      <vt:lpstr>PowerPoint Presentation</vt:lpstr>
      <vt:lpstr>PowerPoint Presentation</vt:lpstr>
      <vt:lpstr>End-to-End SSO Validation – SUCCESS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MY PC</dc:creator>
  <cp:keywords/>
  <dc:description>generated using python-pptx</dc:description>
  <cp:lastModifiedBy>MY PC</cp:lastModifiedBy>
  <cp:revision>3</cp:revision>
  <dcterms:created xsi:type="dcterms:W3CDTF">2013-01-27T09:14:16Z</dcterms:created>
  <dcterms:modified xsi:type="dcterms:W3CDTF">2026-10-05T19:19:16Z</dcterms:modified>
  <cp:category/>
</cp:coreProperties>
</file>